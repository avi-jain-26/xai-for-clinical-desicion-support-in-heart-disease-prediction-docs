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  <p:sldMasterId id="2147483673" r:id="rId5"/>
    <p:sldMasterId id="2147483685" r:id="rId6"/>
    <p:sldMasterId id="214748369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AEJ2fu2ZVp5iqGnp5aIrhRg1i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18" Type="http://customschemas.google.com/relationships/presentationmetadata" Target="metadata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8" name="Google Shape;53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2" name="Google Shape;56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8" name="Google Shape;56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Layouts/_rels/slideLayout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1"/>
          <p:cNvSpPr txBox="1"/>
          <p:nvPr>
            <p:ph type="ctrTitle"/>
          </p:nvPr>
        </p:nvSpPr>
        <p:spPr>
          <a:xfrm>
            <a:off x="1097280" y="830190"/>
            <a:ext cx="10058400" cy="3494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" name="Google Shape;24;p11"/>
          <p:cNvSpPr/>
          <p:nvPr/>
        </p:nvSpPr>
        <p:spPr>
          <a:xfrm>
            <a:off x="0" y="-5840"/>
            <a:ext cx="12188700" cy="7566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91788" y="4681"/>
            <a:ext cx="661496" cy="72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6018" y="37107"/>
            <a:ext cx="2149190" cy="695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2715" y="36303"/>
            <a:ext cx="3045060" cy="674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02818" y="31805"/>
            <a:ext cx="2018358" cy="6958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EEE Women in Engineering Visual Identity Toolkit - IEEE Brand Experience" id="29" name="Google Shape;2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25353" y="-9616"/>
            <a:ext cx="957451" cy="742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1154083" y="778682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1149904" y="1989910"/>
            <a:ext cx="10058400" cy="3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3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3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" name="Google Shape;44;p13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5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5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066800" y="1883856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8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18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9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1066800" y="1883856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 rot="5400000">
            <a:off x="4812480" y="-474106"/>
            <a:ext cx="26280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1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1066800" y="1883856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" name="Google Shape;128;p2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1" name="Google Shape;131;p24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2" name="Google Shape;13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8" name="Google Shape;148;p2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1" name="Google Shape;151;p26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6" name="Google Shape;156;p2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28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3" name="Google Shape;163;p28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64" name="Google Shape;164;p28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84" name="Google Shape;184;p31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85" name="Google Shape;185;p31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2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2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4" name="Google Shape;194;p3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 rot="5400000">
            <a:off x="4652880" y="-633718"/>
            <a:ext cx="29472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00" name="Google Shape;200;p3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08" name="Google Shape;208;p3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6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6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6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" name="Google Shape;230;p3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3" name="Google Shape;233;p36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4" name="Google Shape;23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42" name="Google Shape;242;p3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8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0" name="Google Shape;250;p3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3" name="Google Shape;253;p38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57" name="Google Shape;257;p39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58" name="Google Shape;258;p3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0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64" name="Google Shape;264;p40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5" name="Google Shape;265;p40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66" name="Google Shape;266;p40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7" name="Google Shape;267;p4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1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2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3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3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86" name="Google Shape;286;p43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87" name="Google Shape;287;p43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3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4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4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4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6" name="Google Shape;296;p4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4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45"/>
          <p:cNvSpPr txBox="1"/>
          <p:nvPr>
            <p:ph idx="1" type="body"/>
          </p:nvPr>
        </p:nvSpPr>
        <p:spPr>
          <a:xfrm rot="5400000">
            <a:off x="4652880" y="-633718"/>
            <a:ext cx="29472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2" name="Google Shape;302;p4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4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4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6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6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6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10" name="Google Shape;310;p4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8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8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8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2" name="Google Shape;332;p4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5" name="Google Shape;335;p48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6" name="Google Shape;33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44" name="Google Shape;344;p4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4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0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0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2" name="Google Shape;352;p5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5" name="Google Shape;355;p50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51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59" name="Google Shape;359;p51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0" name="Google Shape;360;p51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5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5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52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66" name="Google Shape;366;p52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68" name="Google Shape;368;p52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5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5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5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4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5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5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5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5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5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8" name="Google Shape;388;p55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89" name="Google Shape;389;p55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55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6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56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6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8" name="Google Shape;398;p5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57"/>
          <p:cNvSpPr txBox="1"/>
          <p:nvPr>
            <p:ph idx="1" type="body"/>
          </p:nvPr>
        </p:nvSpPr>
        <p:spPr>
          <a:xfrm rot="5400000">
            <a:off x="4652880" y="-633718"/>
            <a:ext cx="29472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04" name="Google Shape;404;p5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5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8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8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58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2" name="Google Shape;412;p5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5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60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0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60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6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6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6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7" name="Google Shape;437;p60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8" name="Google Shape;438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61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46" name="Google Shape;446;p61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6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6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2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2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62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62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4" name="Google Shape;454;p6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6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6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7" name="Google Shape;457;p62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3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63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1" name="Google Shape;461;p63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2" name="Google Shape;462;p6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6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6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64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8" name="Google Shape;468;p64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9" name="Google Shape;469;p64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0" name="Google Shape;470;p64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1" name="Google Shape;471;p6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6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6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5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6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6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6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6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6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7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67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67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67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0" name="Google Shape;490;p67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91" name="Google Shape;491;p67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67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8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8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8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68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68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0" name="Google Shape;500;p6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6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6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9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69"/>
          <p:cNvSpPr txBox="1"/>
          <p:nvPr>
            <p:ph idx="1" type="body"/>
          </p:nvPr>
        </p:nvSpPr>
        <p:spPr>
          <a:xfrm rot="5400000">
            <a:off x="4652880" y="-633718"/>
            <a:ext cx="29472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06" name="Google Shape;506;p6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6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6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0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70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70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4" name="Google Shape;514;p7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7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7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5.jpg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_rels/slideMaster2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" Type="http://schemas.openxmlformats.org/officeDocument/2006/relationships/image" Target="../media/image7.jpg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9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7" Type="http://schemas.openxmlformats.org/officeDocument/2006/relationships/theme" Target="../theme/theme5.xml"/><Relationship Id="rId16" Type="http://schemas.openxmlformats.org/officeDocument/2006/relationships/slideLayout" Target="../slideLayouts/slideLayout23.xml"/><Relationship Id="rId5" Type="http://schemas.openxmlformats.org/officeDocument/2006/relationships/image" Target="../media/image4.jpg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_rels/slideMaster3.xml.rels><?xml version="1.0" encoding="UTF-8"?>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image" Target="../media/image7.jpg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7" Type="http://schemas.openxmlformats.org/officeDocument/2006/relationships/theme" Target="../theme/theme6.xml"/><Relationship Id="rId16" Type="http://schemas.openxmlformats.org/officeDocument/2006/relationships/slideLayout" Target="../slideLayouts/slideLayout34.xml"/><Relationship Id="rId5" Type="http://schemas.openxmlformats.org/officeDocument/2006/relationships/image" Target="../media/image4.jpg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4.xml.rels><?xml version="1.0" encoding="UTF-8"?><Relationships xmlns="http://schemas.openxmlformats.org/package/2006/relationships"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" Type="http://schemas.openxmlformats.org/officeDocument/2006/relationships/image" Target="../media/image7.jpg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9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45.xml"/><Relationship Id="rId5" Type="http://schemas.openxmlformats.org/officeDocument/2006/relationships/image" Target="../media/image4.jpg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/Relationships>
</file>

<file path=ppt/slideMasters/_rels/slideMaster5.xml.rels><?xml version="1.0" encoding="UTF-8"?><Relationships xmlns="http://schemas.openxmlformats.org/package/2006/relationships"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" Type="http://schemas.openxmlformats.org/officeDocument/2006/relationships/image" Target="../media/image7.jpg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9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7" Type="http://schemas.openxmlformats.org/officeDocument/2006/relationships/theme" Target="../theme/theme4.xml"/><Relationship Id="rId16" Type="http://schemas.openxmlformats.org/officeDocument/2006/relationships/slideLayout" Target="../slideLayouts/slideLayout56.xml"/><Relationship Id="rId5" Type="http://schemas.openxmlformats.org/officeDocument/2006/relationships/image" Target="../media/image4.jpg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0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0"/>
          <p:cNvSpPr txBox="1"/>
          <p:nvPr>
            <p:ph type="title"/>
          </p:nvPr>
        </p:nvSpPr>
        <p:spPr>
          <a:xfrm>
            <a:off x="1066800" y="1883856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" type="body"/>
          </p:nvPr>
        </p:nvSpPr>
        <p:spPr>
          <a:xfrm>
            <a:off x="1097280" y="3241094"/>
            <a:ext cx="100584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0"/>
          <p:cNvCxnSpPr/>
          <p:nvPr/>
        </p:nvCxnSpPr>
        <p:spPr>
          <a:xfrm>
            <a:off x="1193532" y="724788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" name="Google Shape;14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787170" y="37209"/>
            <a:ext cx="661496" cy="634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74411" y="168776"/>
            <a:ext cx="1438630" cy="502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5732" y="-4599"/>
            <a:ext cx="661496" cy="72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8766" y="-439"/>
            <a:ext cx="2075272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9357" y="36304"/>
            <a:ext cx="2884998" cy="63915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3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3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7" name="Google Shape;117;p23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8" name="Google Shape;118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6186" y="149113"/>
            <a:ext cx="904289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5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5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6" name="Google Shape;216;p3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3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9" name="Google Shape;219;p35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0" name="Google Shape;220;p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7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7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8" name="Google Shape;318;p4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9" name="Google Shape;319;p4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4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1" name="Google Shape;321;p47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2" name="Google Shape;322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9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9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9" name="Google Shape;419;p59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0" name="Google Shape;420;p5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1" name="Google Shape;421;p5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2" name="Google Shape;422;p5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3" name="Google Shape;423;p59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4" name="Google Shape;424;p5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"/>
          <p:cNvSpPr txBox="1"/>
          <p:nvPr>
            <p:ph type="ctrTitle"/>
          </p:nvPr>
        </p:nvSpPr>
        <p:spPr>
          <a:xfrm>
            <a:off x="1066800" y="1164612"/>
            <a:ext cx="10058400" cy="1660801"/>
          </a:xfrm>
          <a:prstGeom prst="rect">
            <a:avLst/>
          </a:prstGeom>
          <a:solidFill>
            <a:srgbClr val="A7EBEF"/>
          </a:solidFill>
          <a:ln cap="flat" cmpd="sng" w="9525">
            <a:solidFill>
              <a:srgbClr val="1241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 xml:space="preserve">IC2PCT- 2026    </a:t>
            </a:r>
            <a:br>
              <a:rPr lang="en-US" sz="3600">
                <a:solidFill>
                  <a:schemeClr val="dk1"/>
                </a:solidFill>
              </a:rPr>
            </a:br>
            <a:r>
              <a:rPr lang="en-US" sz="3500">
                <a:solidFill>
                  <a:schemeClr val="dk1"/>
                </a:solidFill>
              </a:rPr>
              <a:t>IEEE 6th International Conference on Computing, Power, and Communication Technologies (#68894)</a:t>
            </a:r>
            <a:endParaRPr sz="7900"/>
          </a:p>
        </p:txBody>
      </p:sp>
      <p:sp>
        <p:nvSpPr>
          <p:cNvPr id="522" name="Google Shape;522;p1"/>
          <p:cNvSpPr txBox="1"/>
          <p:nvPr/>
        </p:nvSpPr>
        <p:spPr>
          <a:xfrm>
            <a:off x="2214750" y="4552325"/>
            <a:ext cx="7762500" cy="738623"/>
          </a:xfrm>
          <a:prstGeom prst="rect">
            <a:avLst/>
          </a:prstGeom>
          <a:solidFill>
            <a:srgbClr val="A7EBEF"/>
          </a:solidFill>
          <a:ln cap="flat" cmpd="sng" w="9525">
            <a:solidFill>
              <a:srgbClr val="1241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Name: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Name: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Affiliation: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"/>
          <p:cNvSpPr txBox="1"/>
          <p:nvPr/>
        </p:nvSpPr>
        <p:spPr>
          <a:xfrm>
            <a:off x="3092200" y="3429000"/>
            <a:ext cx="6007500" cy="523200"/>
          </a:xfrm>
          <a:prstGeom prst="rect">
            <a:avLst/>
          </a:prstGeom>
          <a:solidFill>
            <a:srgbClr val="D2F5F7"/>
          </a:solidFill>
          <a:ln cap="flat" cmpd="sng" w="9525">
            <a:solidFill>
              <a:srgbClr val="1241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 xml:space="preserve">Paper ID: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 xml:space="preserve">Paper Title: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Explainable AI for Clinical Decision Support in Heart Disease 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"/>
          <p:cNvSpPr txBox="1"/>
          <p:nvPr>
            <p:ph type="title"/>
          </p:nvPr>
        </p:nvSpPr>
        <p:spPr>
          <a:xfrm>
            <a:off x="1154083" y="778682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2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Existing Approaches/ Related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Problems in Existing Approaches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3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Heart disease is the leading cause of death globally, causing ~17.9 million deaths each year (31% of global mortality) per WHO.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Machine Learning models predict heart risk accurately but act as “black boxes” — doctors cannot see the reasoning behind predictions.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Goal: Build a Clinical Decision Support System (CDSS) that delivers high-accuracy heart disease prediction with transparent, SHAP-based explanations clinicians can trust.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Existing Approaches/ Related Work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4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Logistic Regression (Asih et al.) — interpretable but limited (~88.2% accuracy); cannot capture nonlinear patterns in clinical data.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Random Forest (Chen et al., ~91.2%) and SVM with RBF kernel (Liu et al., ~91.8%) — strong accuracy but offer little patient-level insight.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XGBoost (Sheridan et al., ~93.6%) is the best single model, but no existing study unifies high-accuracy ensembles with end-to-end SHAP explainability for heart disease.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Problems in Existing Approaches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5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Lack of transparency: Most ML models are “black boxes” — clinicians get a risk score with no reasoning, blocking real-world adoption (only ~12% of US cardiologists use any AI tool).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Single-model focus: Most studies rely on one classifier and rarely integrate explainability (XAI) into a unified pipeline.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Small/outdated datasets: Few works validate on large-scale modern data or include lifestyle features (sleep, activity, alcohol) alongside clinical variables.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6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Pipeline: Preprocess CDC BRFSS 2020 (~400K records) and Diabetes 130-US Hospital datasets — handle missing values, encode categories, normalize, and apply SMOTE for class imbalance.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Stacked Ensemble: Combine 5 base models (Logistic Regression, Random Forest, SVM, Gradient Boosting, XGBoost) with a Logistic Regression meta-learner trained on out-of-fold predictions.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Explainability Layer: SHAP (TreeExplainer) gives both local (per-patient) and global feature importance, plus a graph-based view of risk-factor correlations.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7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Stacked Ensemble achieved 96.0% accuracy and 95.9% precision on CDC BRFSS 2020 — outperforming XGBoost (93.6%), SVM (91.8%), Random Forest (91.4%), and Logistic Regression (88.5%).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SHAP analysis identified Age, General Health, Diabetic Status, Difficulty Walking, and Physical Activity as top predictors — fully consistent with established cardiology risk factors.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Improvement is statistically significant (p &lt; 0.001, bootstrap test) and the ensemble shows lower variance across runs — proving the model is both more accurate and more stable.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8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Built an end-to-end CDSS that combines a Stacked Ensemble (96.0% accuracy) with SHAP — proving accuracy and interpretability can coexist in clinical AI.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SHAP-driven explanations align with established medical knowledge, allowing clinicians to validate and trust each prediction at the patient level.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Future Work: Prospective clinical validation, integration of temporal/EHR &amp; IoT wearable data, federated learning across hospitals, and counterfactual explanations.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9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[1] Q. Abbas, W. Y. Jeong, and S. W. Lee, “Explainable AI in clinical decision support systems: A comprehensive review,” J. Ambient Intell. Humaniz. Comput., 2025.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[2] P. Shah, M. Shukla, N. H. Dholakia, and H. Gupta, “Hybrid ensemble and explainable AI techniques for cardiovascular risk prediction,” Sci. Rep., 2025.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[3] M. A. Talukder, A. S. Talaat, M. Kazi, and A. Khraisat, “XAI-HD: Interpretable AI framework for heart disease prediction,” Neural Comput. Appl., 2025.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[4] T. Chen and C. Guestrin, “XGBoost: A scalable tree boosting system,” in Proc. 22nd ACM SIGKDD Conf., 2016, pp. 785–794.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[5] L. Breiman, “Random forests,” Machine Learning, vol. 45, no. 1, pp. 5–32, 2001.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[6] H. Zou and T. Hastie, “Regularization and variable selection via the elastic net,” J. R. Stat. Soc. Ser. B, vol. 67, no. 2, pp. 301–320, 2005.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5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2025-10-30T10:55:16Z</dcterms:created>
  <dc:creator>ishana attri</dc:creator>
</cp:coreProperties>
</file>